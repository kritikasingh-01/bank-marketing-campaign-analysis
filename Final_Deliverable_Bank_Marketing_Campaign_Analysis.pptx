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101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71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kritika.singh4876/viz/BankMarketingCampaignAnalysisDashboard1/Dashboard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kritika.singh4876/viz/BankMarketingCampaignAnalysisDashboard2/Dashboard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C1A5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0B3BB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2423160"/>
            <a:ext cx="2926080" cy="2926080"/>
          </a:xfrm>
          <a:prstGeom prst="ellipse">
            <a:avLst/>
          </a:prstGeom>
          <a:solidFill>
            <a:srgbClr val="F2963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Tableau dashboard analyzing bank marketing campaign performance and customer subscription behavior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Kritika Singh ]  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 ABES Engineering College /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]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0C6CEC6-C09E-151A-06B3-7EA0185537AF}"/>
              </a:ext>
            </a:extLst>
          </p:cNvPr>
          <p:cNvSpPr/>
          <p:nvPr/>
        </p:nvSpPr>
        <p:spPr>
          <a:xfrm>
            <a:off x="-2046248" y="-1769165"/>
            <a:ext cx="3465511" cy="3506525"/>
          </a:xfrm>
          <a:prstGeom prst="ellipse">
            <a:avLst/>
          </a:prstGeom>
          <a:solidFill>
            <a:srgbClr val="F2963C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C3602D-7F67-0047-A02D-8C37DB01F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15" y="345000"/>
            <a:ext cx="1797900" cy="7014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10DF7F-7218-6E93-F414-8E97984E9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056" y="345000"/>
            <a:ext cx="796529" cy="705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86594"/>
            <a:ext cx="7315200" cy="54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u="sng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5068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822960" y="1766798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50009" y="1764886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815924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Text 6"/>
          <p:cNvSpPr/>
          <p:nvPr/>
        </p:nvSpPr>
        <p:spPr>
          <a:xfrm>
            <a:off x="6690049" y="1754435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0" y="1764886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07908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960" y="2739375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7238" y="2781736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798064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20840" y="2756543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0" y="2731581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Dashboard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90748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7" name="Text 15"/>
          <p:cNvSpPr/>
          <p:nvPr/>
        </p:nvSpPr>
        <p:spPr>
          <a:xfrm>
            <a:off x="822960" y="3790748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30681" y="3757298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cs typeface="Arial" pitchFamily="34" charset="-120"/>
              </a:rPr>
              <a:t>Dashboard 1: Campaign Performance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3806610"/>
            <a:ext cx="5394960" cy="792542"/>
          </a:xfrm>
          <a:prstGeom prst="roundRect">
            <a:avLst>
              <a:gd name="adj" fmla="val 5926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4308" y="3703320"/>
            <a:ext cx="914400" cy="1028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98080" y="3845192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B1B2E"/>
                </a:solidFill>
                <a:latin typeface="Arial" pitchFamily="34" charset="0"/>
                <a:cs typeface="Arial" pitchFamily="34" charset="-120"/>
              </a:rPr>
              <a:t>Dashboard 2: Customer Behavior Analysis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56118"/>
            <a:ext cx="5394960" cy="808404"/>
          </a:xfrm>
          <a:prstGeom prst="roundRect">
            <a:avLst>
              <a:gd name="adj" fmla="val 5926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3" name="Text 21"/>
          <p:cNvSpPr/>
          <p:nvPr/>
        </p:nvSpPr>
        <p:spPr>
          <a:xfrm>
            <a:off x="822960" y="4827939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5379455"/>
            <a:ext cx="4114800" cy="1432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4795050"/>
            <a:ext cx="9144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737360" y="4825702"/>
            <a:ext cx="41148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Conclusion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C805A33-B888-DAF3-AB8D-0ACA79402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7010"/>
            <a:ext cx="1009929" cy="39343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7924891-80F0-7A5B-537E-B798111B9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351" y="181510"/>
            <a:ext cx="796529" cy="705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199"/>
            <a:ext cx="9144000" cy="73947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Campaign Overview at a Glance</a:t>
            </a:r>
            <a:endParaRPr lang="en-US" sz="26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large-scale bank marketing dataset containing customer demographics, financial profile, and campaign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76359"/>
            <a:ext cx="10607040" cy="975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analyzes a real-world Portuguese bank telemarketing dataset to understand who subscribes to term deposits, when to contact them, and how many outreach attempts are worthwhile. The findings power a two-part Tableau dashboard covering campaign performance and root-cause diagnosis. This project analyzes a real-world Portuguese bank telemarketing dataset to understand who subscribes to term deposits, when to contact them, and how many outreach attempts are worthwhile. The findings power a two-part Tableau dashboard covering campaign performance and root-cause diagnosis.</a:t>
            </a:r>
            <a:endParaRPr lang="en-US" sz="1250" dirty="0"/>
          </a:p>
          <a:p>
            <a:pPr>
              <a:lnSpc>
                <a:spcPct val="130000"/>
              </a:lnSpc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A14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85591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4707835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3734111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A144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985591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4709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attributes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373645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A1440"/>
          </a:solidFill>
          <a:ln/>
        </p:spPr>
      </p:sp>
      <p:sp>
        <p:nvSpPr>
          <p:cNvPr id="12" name="Text 10"/>
          <p:cNvSpPr/>
          <p:nvPr/>
        </p:nvSpPr>
        <p:spPr>
          <a:xfrm>
            <a:off x="6377940" y="40233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4709160"/>
            <a:ext cx="22402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3734111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A144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0233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4709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Analytical dashboards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244963" cy="64008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914400" y="1828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463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45,211 customer records across 17 features using spreadsheets is time-consuming and difficult.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demographics, financial profiles, contact history, and previous campaign outcomes make it challenging to identify the factors driving subscriptions.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teams cannot easily determine which customer segments respond best, the ideal contact frequency, or the best time for follow-up.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interactive visualization, important patterns and business opportunities may be overlooked.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A1440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828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720840" y="23317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6E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two interactive Tableau dashboards to evaluate campaign performance and uncover the reasons behind campaign outcomes.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6E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KPIs and interactive visualizations to analyze customer behavior, subscription trends, and campaign effectiveness.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6E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customer segments based on job, education, marital status, previous campaign history, and communication channels.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6E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data-driven insights to improve customer targeting, optimize contact strategy, and support future marketing decisions.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087" y="411479"/>
            <a:ext cx="7315200" cy="79552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E"/>
                </a:solidFill>
                <a:latin typeface="Bahnschrift" panose="020B0502040204020203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3B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Two-Dashboard Design  —  Build a linked Tableau report separating campaign performance from root-cause diagnosis.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3B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505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Segment-Level Insight  —  Visualize subscription rate across job, education, marital status, and financial profile.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3BB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92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34670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Campaign Performance —  Analyze the impact of contact frequency, call duration, previous campaign outcomes, and contact recency on subscription success.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3B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4281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Business Insights—  Surface who to target, when to contact them, and how many attempts are worthwhile.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3B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13892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Transparency  —  Flag data quality limitations, such as unknown prior campaign outcomes, within the dashboard.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524BD607-EC9E-20D3-D432-8C7780C9FBB7}"/>
              </a:ext>
            </a:extLst>
          </p:cNvPr>
          <p:cNvSpPr/>
          <p:nvPr/>
        </p:nvSpPr>
        <p:spPr>
          <a:xfrm>
            <a:off x="453887" y="1455618"/>
            <a:ext cx="11021833" cy="4422251"/>
          </a:xfrm>
          <a:prstGeom prst="roundRect">
            <a:avLst>
              <a:gd name="adj" fmla="val 1739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858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 -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7F6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"Bank Marketing Dataset" — UCI Machine Learning 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0A144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52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Machine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Repository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6517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0A144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852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45,211 customers,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Portuguese bank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6517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0A1440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852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6676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Attributes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tabular dataset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offers a comprehensive view of customer profile and campaign behavior — capturing demographics, financial standing, contact history, and campaign outcomes for every customer contacted during the bank's telemarketing effort.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Variables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 captured for every customer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6002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6002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Marital Status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06840" y="1600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16002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Status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29000" y="2606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Balance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Loan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840" y="2606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2606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Loan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Type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2900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6118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/ Month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6118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Contacts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06840" y="3611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27" name="Text 25"/>
          <p:cNvSpPr/>
          <p:nvPr/>
        </p:nvSpPr>
        <p:spPr>
          <a:xfrm>
            <a:off x="9006840" y="36118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Pdays (Recontact Gap)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177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Contacts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29000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6177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Outcome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6177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Duration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006840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7F6FE"/>
          </a:solidFill>
          <a:ln/>
        </p:spPr>
      </p:sp>
      <p:sp>
        <p:nvSpPr>
          <p:cNvPr id="35" name="Text 33"/>
          <p:cNvSpPr/>
          <p:nvPr/>
        </p:nvSpPr>
        <p:spPr>
          <a:xfrm>
            <a:off x="9006840" y="46177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Subscribed (Target)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199"/>
            <a:ext cx="9144000" cy="70899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Feature: KPI Cards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79" y="1532795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—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253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5089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1781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5550" y="3054096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79" y="3641598"/>
            <a:ext cx="5098111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10" name="Text 8"/>
          <p:cNvSpPr/>
          <p:nvPr/>
        </p:nvSpPr>
        <p:spPr>
          <a:xfrm>
            <a:off x="835550" y="3651885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Balance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98239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12" name="Text 10"/>
          <p:cNvSpPr/>
          <p:nvPr/>
        </p:nvSpPr>
        <p:spPr>
          <a:xfrm>
            <a:off x="835550" y="4218813"/>
            <a:ext cx="512064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Call Duration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9602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4697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Contacts / Customer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— Diagnosis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436477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463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Campaign Success 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02830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37960" y="2971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Recontacted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60911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51885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Days Before Recontact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422913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7F6F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37960" y="423310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Contacts: Subscribers vs Non-Subscribers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Demonstration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— How did the campaign perform?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4892040"/>
          </a:xfrm>
          <a:prstGeom prst="roundRect">
            <a:avLst>
              <a:gd name="adj" fmla="val 1121"/>
            </a:avLst>
          </a:prstGeom>
          <a:solidFill>
            <a:srgbClr val="F7F6FE"/>
          </a:solidFill>
          <a:ln/>
        </p:spPr>
      </p:sp>
      <p:sp>
        <p:nvSpPr>
          <p:cNvPr id="6" name="Text 3"/>
          <p:cNvSpPr/>
          <p:nvPr/>
        </p:nvSpPr>
        <p:spPr>
          <a:xfrm>
            <a:off x="670560" y="6537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 </a:t>
            </a:r>
            <a:r>
              <a:rPr lang="en-US" sz="1200" b="1" u="sng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https://public.tableau.com/app/profile/kritika.singh4876/viz/BankMarketingCampaignAnalysisDashboard1/Dashboard1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9215E8-547C-3D33-CE52-9AD1D3BBB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280160"/>
            <a:ext cx="108508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Demonstration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— Why did it perform that way, and what's next?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4892040"/>
          </a:xfrm>
          <a:prstGeom prst="roundRect">
            <a:avLst>
              <a:gd name="adj" fmla="val 1121"/>
            </a:avLst>
          </a:prstGeom>
          <a:solidFill>
            <a:srgbClr val="F7F6FE"/>
          </a:solidFill>
          <a:ln/>
        </p:spPr>
      </p:sp>
      <p:sp>
        <p:nvSpPr>
          <p:cNvPr id="6" name="Text 3"/>
          <p:cNvSpPr/>
          <p:nvPr/>
        </p:nvSpPr>
        <p:spPr>
          <a:xfrm>
            <a:off x="670560" y="64236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 </a:t>
            </a:r>
            <a:r>
              <a:rPr lang="en-US" sz="1100" b="1" u="sng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https://public.tableau.com/app/profile/kritika.singh4876/viz/BankMarketingCampaignAnalysisDashboard2/Dashboard2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D609E1-2BA2-0341-C406-A36948AD8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280160"/>
            <a:ext cx="108508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B3BB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79" y="1280160"/>
            <a:ext cx="10043471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Transform raw campaign data into meaningful business insights through Tableau dashboards.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Enables clear comparison of subscription performance across customer segments.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Provide data-driven insights to optimize customer targeting, contact frequency, and follow-up timing based on campaign performance and customer behavior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Demonstrates the practical application of Business intelligence and data visualization techniques in a real-world bank marketing scenario</a:t>
            </a:r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881360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6" name="Text 4"/>
          <p:cNvSpPr/>
          <p:nvPr/>
        </p:nvSpPr>
        <p:spPr>
          <a:xfrm>
            <a:off x="914400" y="3749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Marketing Campaign Analysis Dashboard transforms raw Bank marketing dataset into an interactive decision-support tool — showing not just how the campaign performed, but why, and what actions to take next to improve conversion efficiency.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D9414F-2D37-2D15-9935-E8C214B21E1C}"/>
              </a:ext>
            </a:extLst>
          </p:cNvPr>
          <p:cNvSpPr/>
          <p:nvPr/>
        </p:nvSpPr>
        <p:spPr>
          <a:xfrm>
            <a:off x="1920240" y="5394960"/>
            <a:ext cx="2926080" cy="2926080"/>
          </a:xfrm>
          <a:prstGeom prst="ellipse">
            <a:avLst/>
          </a:prstGeom>
          <a:solidFill>
            <a:srgbClr val="F2963C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805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Kritika Singh</cp:lastModifiedBy>
  <cp:revision>3</cp:revision>
  <dcterms:created xsi:type="dcterms:W3CDTF">2026-07-28T18:49:17Z</dcterms:created>
  <dcterms:modified xsi:type="dcterms:W3CDTF">2026-07-29T17:30:48Z</dcterms:modified>
</cp:coreProperties>
</file>